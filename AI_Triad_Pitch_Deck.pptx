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8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18"/>
    <p:restoredTop sz="94643"/>
  </p:normalViewPr>
  <p:slideViewPr>
    <p:cSldViewPr snapToGrid="0" snapToObjects="1">
      <p:cViewPr varScale="1">
        <p:scale>
          <a:sx n="116" d="100"/>
          <a:sy n="116" d="100"/>
        </p:scale>
        <p:origin x="808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snover@law.Harvard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AI 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AA"/>
                </a:solidFill>
                <a:latin typeface="Calibri"/>
              </a:defRPr>
            </a:pPr>
            <a:r>
              <a:t>Rosetta Stone for AI Policy Discourse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Calibri"/>
              </a:defRPr>
            </a:pPr>
            <a:r>
              <a:t>We are not engineering the solution;</a:t>
            </a:r>
            <a:br/>
            <a:r>
              <a:t>we are engineering the table at which the solution can be negotiated.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95" y="5303520"/>
            <a:ext cx="73152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Jeffrey Snover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AAAABB"/>
                </a:solidFill>
                <a:latin typeface="Calibri"/>
              </a:defRPr>
            </a:pPr>
            <a:r>
              <a:rPr dirty="0"/>
              <a:t>Inventor of PowerShell  |  Former Technical Fellow, Microsoft  |  Former DE, Google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AAAABB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@</a:t>
            </a:r>
            <a:r>
              <a:rPr sz="1400" dirty="0" err="1">
                <a:solidFill>
                  <a:schemeClr val="bg1"/>
                </a:solidFill>
              </a:rPr>
              <a:t>jsnover</a:t>
            </a:r>
            <a:r>
              <a:rPr sz="1400" dirty="0">
                <a:solidFill>
                  <a:schemeClr val="bg1"/>
                </a:solidFill>
              </a:rPr>
              <a:t>  </a:t>
            </a:r>
            <a:r>
              <a:rPr lang="en-US" sz="1400" dirty="0">
                <a:solidFill>
                  <a:schemeClr val="bg1"/>
                </a:solidFill>
              </a:rPr>
              <a:t> | </a:t>
            </a:r>
            <a:r>
              <a:rPr lang="en-US" sz="1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jsnover@law.Harvard.edu</a:t>
            </a:r>
            <a:r>
              <a:rPr lang="en-US" sz="1400" dirty="0">
                <a:solidFill>
                  <a:schemeClr val="bg1"/>
                </a:solidFill>
              </a:rPr>
              <a:t> | jsnover13@gmail.com</a:t>
            </a:r>
            <a:r>
              <a:rPr sz="1400" dirty="0">
                <a:solidFill>
                  <a:schemeClr val="bg1"/>
                </a:solidFill>
              </a:rPr>
              <a:t>|  Berkman Klein Center Fellow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INTROS &amp; STATUS QUO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Market Is Moving Fast. The Conversation Isn't.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383280" cy="41148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Policy Acceleration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EU AI Act enforced Aug 2025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US executive orders on AI (2023-2025)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GPAI Code of Practice (2025)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China, UK, Brazil, India — all regulating simultaneously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737360"/>
            <a:ext cx="3383280" cy="41148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59" y="1737360"/>
            <a:ext cx="3383280" cy="54864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79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FE0"/>
                </a:solidFill>
                <a:latin typeface="Calibri"/>
              </a:defRPr>
            </a:pPr>
            <a:r>
              <a:t>Research Explosion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4688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Hundreds of policy papers per quarter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Think tanks, labs, governments all publishing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Contradictory conclusions from shared 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No mechanism to reconcile across worldviews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737360"/>
            <a:ext cx="3383280" cy="41148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33832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Taxonomy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4688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NIST AI RMF — risk-centric only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EU AI Act — risk-centric only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MIT AI Risk Repository — risk-centric only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None capture Accelerationist goals or Skeptic equity concerns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Stakeholders must synthesize across incompatible worldviews — and no tooling exists to help.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INTROS &amp; STATUS QUO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Three Monologues, Zero Dialogue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ACCELERATIONIST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AI is a revolutionary force for solving</a:t>
            </a:r>
            <a:br/>
            <a:r>
              <a:t>existential challenges — climate, disease,</a:t>
            </a:r>
            <a:br/>
            <a:r>
              <a:t>human capability.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645920"/>
            <a:ext cx="3383280" cy="20116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59" y="1645920"/>
            <a:ext cx="73152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79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SAFETYIST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AI poses catastrophic, irreversible,</a:t>
            </a:r>
            <a:br/>
            <a:r>
              <a:t>potentially existential risks and</a:t>
            </a:r>
            <a:br/>
            <a:r>
              <a:t>potential loss of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383280" cy="20116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73152" cy="2011680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FE0"/>
                </a:solidFill>
                <a:latin typeface="Calibri"/>
              </a:defRPr>
            </a:pPr>
            <a:r>
              <a:t>SKEPTIC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Future-gazing distracts from immediate</a:t>
            </a:r>
            <a:br/>
            <a:r>
              <a:t>harms: bias, labor displacement,</a:t>
            </a:r>
            <a:br/>
            <a:r>
              <a:t>privacy erosion, over-hype.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They use the same words — "harm," "risk," "alignment" — to mean entirely different things.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CCCDD"/>
                </a:solidFill>
                <a:latin typeface="Calibri"/>
              </a:defRPr>
            </a:pPr>
            <a:r>
              <a:t>A policymaker today cannot distinguish whether a disagreement is rooted in: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CCCCDD"/>
                </a:solidFill>
                <a:latin typeface="Calibri"/>
              </a:defRPr>
            </a:pPr>
            <a:r>
              <a:t>Values/Goals  —  fundamentally different desired end-states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CCCCDD"/>
                </a:solidFill>
                <a:latin typeface="Calibri"/>
              </a:defRPr>
            </a:pPr>
            <a:r>
              <a:t>Data/Facts  —  different beliefs about what is objectively true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CCCCDD"/>
                </a:solidFill>
                <a:latin typeface="Calibri"/>
              </a:defRPr>
            </a:pPr>
            <a:r>
              <a:t>Method  —  different ways of interpreting the same data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Cost: Weeks of analyst time per question. Blind spots invisible until they surface in testimony or board memos.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Solution: A Translation Layer for AI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Calibri"/>
              </a:defRPr>
            </a:pPr>
            <a:r>
              <a:t>AI Triad maps three distinct moral vocabularies onto a single unified schema.</a:t>
            </a:r>
            <a:br/>
            <a:r>
              <a:t>It treats conflict as data, not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383280" cy="32918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03120" y="2606040"/>
            <a:ext cx="640080" cy="6400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Calibri"/>
              </a:defRPr>
            </a:pPr>
            <a:r>
              <a:t>INGEST &amp;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Converts any source document</a:t>
            </a:r>
            <a:br/>
            <a:r>
              <a:t>(PDF, HTML, DOCX) into structured</a:t>
            </a:r>
            <a:br/>
            <a:r>
              <a:t>markdown. Extracts metadata,</a:t>
            </a:r>
            <a:br/>
            <a:r>
              <a:t>POV tags, topic classification.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377440"/>
            <a:ext cx="3383280" cy="32918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52159" y="2606040"/>
            <a:ext cx="640080" cy="640080"/>
          </a:xfrm>
          <a:prstGeom prst="ellipse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FE0"/>
                </a:solidFill>
                <a:latin typeface="Calibri"/>
              </a:defRPr>
            </a:pPr>
            <a:r>
              <a:t>ANALYZE PER POV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8404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AI generates per-perspective</a:t>
            </a:r>
            <a:br/>
            <a:r>
              <a:t>summaries with factual claims,</a:t>
            </a:r>
            <a:br/>
            <a:r>
              <a:t>temporal scoping, and AIF-aligned</a:t>
            </a:r>
            <a:br/>
            <a:r>
              <a:t>argumentation mapping.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377440"/>
            <a:ext cx="3383280" cy="32918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0" y="260604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B6B"/>
                </a:solidFill>
                <a:latin typeface="Calibri"/>
              </a:defRPr>
            </a:pPr>
            <a:r>
              <a:t>DETECT CONFLICTS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8404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DD"/>
                </a:solidFill>
                <a:latin typeface="Calibri"/>
              </a:defRPr>
            </a:pPr>
            <a:r>
              <a:t>Automatically surfaces where</a:t>
            </a:r>
            <a:br/>
            <a:r>
              <a:t>sources disagree and classifies</a:t>
            </a:r>
            <a:br/>
            <a:r>
              <a:t>the root: Values vs. Facts vs.</a:t>
            </a:r>
            <a:br/>
            <a:r>
              <a:t>Method. Claim-level precision.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14800" y="3749039"/>
            <a:ext cx="457200" cy="27432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863840" y="3749039"/>
            <a:ext cx="457200" cy="27432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Output: A researcher sees the full argumentative landscape for any topic in minutes, not weeks.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1463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Policy Analysts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916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AI policy analysts at think tanks, government agencies</a:t>
            </a:r>
            <a:br/>
            <a:r>
              <a:t>(e.g., congressional research staff), and corporate</a:t>
            </a:r>
            <a:br/>
            <a:r>
              <a:t>AI governance teams who must brief decision-makers</a:t>
            </a:r>
            <a:br/>
            <a:r>
              <a:t>on contested topics.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916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Gain a diagnostic tool to parse arguments — distinguish</a:t>
            </a:r>
            <a:br/>
            <a:r>
              <a:t>whether friction is rooted in values, facts, or method.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10698480" cy="14630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73152" cy="1463040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FE0"/>
                </a:solidFill>
                <a:latin typeface="Calibri"/>
              </a:defRPr>
            </a:pPr>
            <a:r>
              <a:t>SECONDARY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Academic Researchers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375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Researchers in STS, AI ethics, and technology policy</a:t>
            </a:r>
            <a:br/>
            <a:r>
              <a:t>who need systematic multi-perspective literature</a:t>
            </a:r>
            <a:br/>
            <a:r>
              <a:t>comparison across hundreds of 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3375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FE0"/>
                </a:solidFill>
                <a:latin typeface="Calibri"/>
              </a:defRPr>
            </a:pPr>
            <a:r>
              <a:t>Systematic cross-POV analysis replaces weeks of</a:t>
            </a:r>
            <a:br/>
            <a:r>
              <a:t>manual reading with structured, claim-level comparison.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10698480" cy="14630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73152" cy="1463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TERTIARY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Journalists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834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Journalists covering AI topics who need to quickly</a:t>
            </a:r>
            <a:br/>
            <a:r>
              <a:t>parse competing narratives and identify where</a:t>
            </a:r>
            <a:br/>
            <a:r>
              <a:t>sources are genuinely arguing past each other.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9834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A "decoder ring" to spot when value conflicts are</a:t>
            </a:r>
            <a:br/>
            <a:r>
              <a:t>disguised as factual disputes — report on real trade-offs,</a:t>
            </a:r>
            <a:br/>
            <a:r>
              <a:t>not amplify incompatible monologues.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54864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240280" y="173736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3383280" cy="347472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33832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  Desktop app + CLI 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  Four-POV taxonomy (acc/saf/skp/cc)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  Automated conflict detection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  Debate synthesis with AIF argument mapping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  BDI-structured agent debates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  Multi-AI backend (Gemini, Claude, Groq)</a:t>
            </a:r>
          </a:p>
        </p:txBody>
      </p:sp>
      <p:sp>
        <p:nvSpPr>
          <p:cNvPr id="10" name="Oval 9"/>
          <p:cNvSpPr/>
          <p:nvPr/>
        </p:nvSpPr>
        <p:spPr>
          <a:xfrm>
            <a:off x="5989319" y="1737360"/>
            <a:ext cx="365760" cy="365760"/>
          </a:xfrm>
          <a:prstGeom prst="ellipse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FE0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743200"/>
            <a:ext cx="3383280" cy="347472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2743200"/>
            <a:ext cx="3383280" cy="45720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83464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Merge </a:t>
            </a:r>
            <a:r>
              <a:rPr dirty="0" err="1"/>
              <a:t>POViewer</a:t>
            </a:r>
            <a:r>
              <a:rPr dirty="0"/>
              <a:t> &amp; Summary Viewer into Taxonomy Editor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dirty="0"/>
              <a:t>Advocacy campaign (</a:t>
            </a:r>
            <a:r>
              <a:rPr dirty="0" err="1"/>
              <a:t>NeurIPS</a:t>
            </a:r>
            <a:r>
              <a:rPr dirty="0"/>
              <a:t>, policy editorials)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dirty="0"/>
              <a:t>2026 AI Triad Rosetta Stone paper</a:t>
            </a:r>
          </a:p>
        </p:txBody>
      </p:sp>
      <p:sp>
        <p:nvSpPr>
          <p:cNvPr id="15" name="Oval 14"/>
          <p:cNvSpPr/>
          <p:nvPr/>
        </p:nvSpPr>
        <p:spPr>
          <a:xfrm>
            <a:off x="9738360" y="1737360"/>
            <a:ext cx="365760" cy="36576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  <a:latin typeface="Calibri"/>
              </a:defRPr>
            </a:pPr>
            <a:r>
              <a:t>LATER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743200"/>
            <a:ext cx="3383280" cy="347472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743200"/>
            <a:ext cx="338328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Web version for broader access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Personal POVs — define your own perspective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Retarget to other policy domains (energy, biotech)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Real-time monitoring of new publications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API access for institutional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0116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645920"/>
            <a:ext cx="219456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Generic AI Summarizers</a:t>
            </a:r>
            <a:br/>
            <a:r>
              <a:t>(ChatGPT, NotebookLM)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645920"/>
            <a:ext cx="20116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Policy Databases</a:t>
            </a:r>
            <a:br/>
            <a:r>
              <a:t>(GovTrack, PolicyNet)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645920"/>
            <a:ext cx="219456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Risk Taxonomies</a:t>
            </a:r>
            <a:br/>
            <a:r>
              <a:t>(NIST RMF, EU AI Act)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645920"/>
            <a:ext cx="219456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AI Triad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2011680" cy="7772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3317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Multi-POV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286000"/>
            <a:ext cx="2194560" cy="7772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4640" y="23317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No — single</a:t>
            </a:r>
            <a:br/>
            <a:r>
              <a:t>"neutral"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286000"/>
            <a:ext cx="2011680" cy="7772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23317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286000"/>
            <a:ext cx="2194560" cy="7772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0" y="23317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Risk-centric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286000"/>
            <a:ext cx="2194560" cy="777240"/>
          </a:xfrm>
          <a:prstGeom prst="rect">
            <a:avLst/>
          </a:prstGeom>
          <a:solidFill>
            <a:srgbClr val="0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23317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Calibri"/>
              </a:defRPr>
            </a:pPr>
            <a:r>
              <a:t>Yes — four named</a:t>
            </a:r>
            <a:br/>
            <a:r>
              <a:t>perspectives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063240"/>
            <a:ext cx="2011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1089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Cross-source conflict</a:t>
            </a:r>
            <a:br/>
            <a:r>
              <a:t>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063240"/>
            <a:ext cx="21945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34640" y="31089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063240"/>
            <a:ext cx="2011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31089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063240"/>
            <a:ext cx="21945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0" y="31089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3063240"/>
            <a:ext cx="2194560" cy="777240"/>
          </a:xfrm>
          <a:prstGeom prst="rect">
            <a:avLst/>
          </a:prstGeom>
          <a:solidFill>
            <a:srgbClr val="0C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31089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Calibri"/>
              </a:defRPr>
            </a:pPr>
            <a:r>
              <a:t>Yes — automated,</a:t>
            </a:r>
            <a:br/>
            <a:r>
              <a:t>claim-level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840480"/>
            <a:ext cx="2011680" cy="7772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8862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Root-cause diagnosis</a:t>
            </a:r>
            <a:br/>
            <a:r>
              <a:t>(values/facts/method)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840480"/>
            <a:ext cx="2194560" cy="7772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38862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3840480"/>
            <a:ext cx="2011680" cy="7772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38862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3840480"/>
            <a:ext cx="2194560" cy="77724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0" y="38862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840480"/>
            <a:ext cx="2194560" cy="777240"/>
          </a:xfrm>
          <a:prstGeom prst="rect">
            <a:avLst/>
          </a:prstGeom>
          <a:solidFill>
            <a:srgbClr val="0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35440" y="38862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617720"/>
            <a:ext cx="2011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4663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Argumentation</a:t>
            </a:r>
            <a:br/>
            <a:r>
              <a:t>mapping (AIF)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617720"/>
            <a:ext cx="21945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34640" y="46634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4617720"/>
            <a:ext cx="2011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0" y="4663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4617720"/>
            <a:ext cx="21945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40880" y="46634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4617720"/>
            <a:ext cx="2194560" cy="777240"/>
          </a:xfrm>
          <a:prstGeom prst="rect">
            <a:avLst/>
          </a:prstGeom>
          <a:solidFill>
            <a:srgbClr val="0C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46634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Calibri"/>
              </a:defRPr>
            </a:pPr>
            <a:r>
              <a:t>Yes — typed edges,</a:t>
            </a:r>
            <a:br/>
            <a:r>
              <a:t>attack classification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Every existing framework is risk-centric. None capture the full Accelerationist-Safetyist-Skeptic landscape.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 Understand That Others Don't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The AI debate is not one discourse — it's three incompatible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Competitors build single-perspective tools. We build the translation layer between worldviews. This is the difference between a dictionary and a Rosetta Stone.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10698480" cy="10972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73152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The interesting information lives in the gaps between perspectives.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Conflicts aren't noise — they're signal. Every disagreement, properly classified (values vs. facts vs. method), reveals exactly where policy can and cannot find common ground.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73152" cy="1097280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FE0"/>
                </a:solidFill>
                <a:latin typeface="Calibri"/>
              </a:defRPr>
            </a:pPr>
            <a:r>
              <a:t>Every new document makes every existing analysis richer.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The structured taxonomy + conflict detection pipeline is a compounding data asset. Network effects: more sources ingested = more conflict surface area = higher diagnostic value for every user.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257800"/>
            <a:ext cx="73152" cy="1097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This is a dilemma, not a problem.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Problems have solutions. Dilemmas have trade-offs. The goal is not to resolve the AI debate but to build the infrastructure that lets stakeholders make informed trade-offs.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2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6731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Calibri"/>
              </a:defRPr>
            </a:pPr>
            <a:r>
              <a:rPr lang="en-US" dirty="0"/>
              <a:t>I am </a:t>
            </a:r>
            <a:r>
              <a:rPr dirty="0"/>
              <a:t>seeking design partners and domain collaborators to shape what comes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46811"/>
            <a:ext cx="10698480" cy="12801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46811"/>
            <a:ext cx="73152" cy="1280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382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DESIGN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57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3-5 policy teams willing to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83971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Think tank analysts, congressional research staff, corporate AI governance leads.</a:t>
            </a:r>
            <a:br/>
            <a:r>
              <a:t>90-day pilot in exchange for direct roadmap influence.</a:t>
            </a:r>
            <a:br/>
            <a:r>
              <a:t>We need real workflows to validate the tool against.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09851"/>
            <a:ext cx="10698480" cy="12801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309851"/>
            <a:ext cx="73152" cy="1280160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4012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FE0"/>
                </a:solidFill>
                <a:latin typeface="Calibri"/>
              </a:defRPr>
            </a:pPr>
            <a:r>
              <a:t>DOMAIN COLLABORATORS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7561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Journalists and academics to stress-test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47011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Journalists covering AI who will test the "decoder ring" against real reporting.</a:t>
            </a:r>
            <a:br/>
            <a:r>
              <a:t>Academics who will pressure-test the taxonomy against research workflows.</a:t>
            </a:r>
            <a:br/>
            <a:r>
              <a:t>Goal: ensure the framework is grounded outside the engineering bubble.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72891"/>
            <a:ext cx="10698480" cy="12801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772891"/>
            <a:ext cx="73152" cy="1280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8643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38651"/>
            <a:ext cx="365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Three open questions </a:t>
            </a:r>
            <a:r>
              <a:rPr lang="en-US" dirty="0"/>
              <a:t>I</a:t>
            </a:r>
            <a:r>
              <a:rPr dirty="0"/>
              <a:t> need help answering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910051"/>
            <a:ext cx="594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1.  </a:t>
            </a:r>
            <a:r>
              <a:rPr lang="en-US" dirty="0"/>
              <a:t>What are does your workflow look like?  Inputs?  Outputs? </a:t>
            </a:r>
          </a:p>
          <a:p>
            <a:pPr marL="228600" indent="-228600" algn="l">
              <a:buAutoNum type="arabicPeriod" startAt="2"/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What’s </a:t>
            </a:r>
            <a:r>
              <a:rPr lang="en-US" dirty="0"/>
              <a:t>required for adoption?  (Web version? Features? Other?)</a:t>
            </a:r>
          </a:p>
          <a:p>
            <a:pPr marL="228600" indent="-228600" algn="l">
              <a:buAutoNum type="arabicPeriod" startAt="2"/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lang="en-US" dirty="0"/>
              <a:t>Who should I talk to next?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C0FD9-8728-AF29-BC52-D09CC163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74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Team: 40 Years of Building Bridges From Chaos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Jeffrey Snover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alibri"/>
              </a:defRPr>
            </a:pPr>
            <a:r>
              <a:t>Systems Philosopher  |  Inventor of PowerShell  |  Berkman Klein Center Fellow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303520" cy="15544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530352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Unified Siloed Cultures Into Shared Taxonomies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Co-authored "Failure Modes in ML" with Berkman Klein Center — first paper</a:t>
            </a:r>
            <a:br/>
            <a:r>
              <a:t>to jointly tabulate security attacks and safety bias. Became the foundation</a:t>
            </a:r>
            <a:br/>
            <a:r>
              <a:t>for the MITRE ATLAS Framework (industry standard).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468880"/>
            <a:ext cx="5303520" cy="15544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468880"/>
            <a:ext cx="5303520" cy="45720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FE0"/>
                </a:solidFill>
                <a:latin typeface="Calibri"/>
              </a:defRPr>
            </a:pPr>
            <a:r>
              <a:t>Built Governance Frameworks From Chaos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71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At Google: synthesized divergent SRE practices across all services into a single</a:t>
            </a:r>
            <a:br/>
            <a:r>
              <a:t>Risk Taxonomy and Risk Control Catalog. Turned Tower of Babel into</a:t>
            </a:r>
            <a:br/>
            <a:r>
              <a:t>standardized operational culture. Enabled scalable AI Ops tooling.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5303520" cy="15544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30352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Drove Decade-Long Institutional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Invented PowerShell by writing the Monad Manifesto — reframed GUI vs. CLI</a:t>
            </a:r>
            <a:br/>
            <a:r>
              <a:t>as AND, not OR. Overcame deep cultural resistance to democratize</a:t>
            </a:r>
            <a:br/>
            <a:r>
              <a:t>automation for millions of users worldwide.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303520" cy="155448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4206240"/>
            <a:ext cx="530352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Bridged Technical and Non-Technical 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CTO/AI Architect for M365. Company spokesperson. Key mediator in</a:t>
            </a:r>
            <a:br/>
            <a:r>
              <a:t>Microsoft's corporate-wide Open Source transition. Led Azure Stack strategy</a:t>
            </a:r>
            <a:br/>
            <a:r>
              <a:t>delivering "cloud on your terms."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96188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35+ Patents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96188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USENIX LISA Award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96188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65K+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596188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Founding Member,</a:t>
            </a:r>
            <a:br/>
            <a:r>
              <a:t>DevOps Enterprise Forum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596188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Google DE</a:t>
            </a:r>
            <a:br/>
            <a:r>
              <a:t>(2022-2026)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596188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MS Technical Fellow</a:t>
            </a:r>
            <a:br/>
            <a:r>
              <a:t>(1999-2022)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AIF? (Argumentation Interchange Format)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AIF is an international standard (developed at the University of Dundee) for representing arguments as structured data.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It provides a formal ontology for encoding claims, premises, inferences, and attacks — making arguments machine-readable and comparable across documents, authors, and viewpoints. Think of it as a graph schema for reasoning.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Why It Matters for AI Triad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5029200" cy="9144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73152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547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Machine-comparable arguments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221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Without AIF, summaries are free text. With AIF, every claim has typed relationships to other claims — we can algorithmically detect conflicts, not just keyword-match.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26279"/>
            <a:ext cx="5029200" cy="9144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526279"/>
            <a:ext cx="73152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5994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Attack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73751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AIF distinguishes rebuttals ("your conclusion is wrong"), undercuts ("your reasoning is flawed"), and undermines ("your evidence is weak"). This tells a policymaker what kind of disagreement they're looking 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77840"/>
            <a:ext cx="5029200" cy="9144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73152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650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Cross-document linking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9253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Claims from different documents can be linked into a single argument graph. A Safetyist claim and an Accelerationist counter-claim become nodes in the same structure — visible, navigable, auditable.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FE0"/>
                </a:solidFill>
                <a:latin typeface="Calibri"/>
              </a:defRPr>
            </a:pPr>
            <a:r>
              <a:t>AI Triad's 7 AIF-Aligned Edge 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74720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474720"/>
            <a:ext cx="73152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5112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SUPPORTS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112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provides evidence for Claim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13631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913631"/>
            <a:ext cx="73152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95020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CONTRADICTS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502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directly negates Claim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52544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352544"/>
            <a:ext cx="73152" cy="38404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DD"/>
                </a:solidFill>
                <a:latin typeface="Calibri"/>
              </a:defRPr>
            </a:pPr>
            <a:r>
              <a:t>ASSUMES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depends on unstated Claim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791456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791456"/>
            <a:ext cx="73152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828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  <a:latin typeface="Calibri"/>
              </a:defRPr>
            </a:pPr>
            <a:r>
              <a:t>WEAKENS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reduces confidence in Claim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230368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5230368"/>
            <a:ext cx="73152" cy="384048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5266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FE0"/>
                </a:solidFill>
                <a:latin typeface="Calibri"/>
              </a:defRPr>
            </a:pPr>
            <a:r>
              <a:t>RESPONDS_TO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2669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is a direct reply to Claim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669279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5669279"/>
            <a:ext cx="73152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570585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TENSION_WITH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70585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Claims A and B are in unresolved friction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6108192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6108192"/>
            <a:ext cx="73152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6144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Calibri"/>
              </a:defRPr>
            </a:pPr>
            <a:r>
              <a:t>INTERPRETS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reframes the meaning of Claim 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5642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Calibri"/>
              </a:defRPr>
            </a:pPr>
            <a:r>
              <a:rPr dirty="0"/>
              <a:t>Reference: </a:t>
            </a:r>
            <a:r>
              <a:rPr dirty="0" err="1"/>
              <a:t>Chesnevar</a:t>
            </a:r>
            <a:r>
              <a:rPr dirty="0"/>
              <a:t> et al., "Towards an Argument Interchange Format," The Knowledge Engineering Review (2006)</a:t>
            </a:r>
          </a:p>
        </p:txBody>
      </p:sp>
    </p:spTree>
    <p:extLst>
      <p:ext uri="{BB962C8B-B14F-4D97-AF65-F5344CB8AC3E}">
        <p14:creationId xmlns:p14="http://schemas.microsoft.com/office/powerpoint/2010/main" val="499579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1655</Words>
  <Application>Microsoft Macintosh PowerPoint</Application>
  <PresentationFormat>Widescreen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Jeffrey Snover</cp:lastModifiedBy>
  <cp:revision>3</cp:revision>
  <dcterms:created xsi:type="dcterms:W3CDTF">2013-01-27T09:14:16Z</dcterms:created>
  <dcterms:modified xsi:type="dcterms:W3CDTF">2026-03-29T13:30:12Z</dcterms:modified>
  <cp:category/>
</cp:coreProperties>
</file>